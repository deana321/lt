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6304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6304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6304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6304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6304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46304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6304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6304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6304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6304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19456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19456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19456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19456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19456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19456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9456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9456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19456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19456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2608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2608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608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608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2608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92608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92608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92608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92608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92608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65760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65760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65760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65760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65760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65760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65760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65760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65760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65760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38912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38912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38912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38912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38912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38912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38912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38912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38912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38912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12064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12064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12064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12064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12064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12064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12064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12064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12064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12064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85216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85216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85216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85216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585216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85216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85216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85216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85216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85216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58368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58368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58368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58368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58368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58368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58368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658368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58368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58368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31520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31520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31520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31520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31520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31520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31520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31520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31520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31520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04672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804672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04672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04672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04672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04672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04672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4672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04672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04672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77824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77824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77824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77824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77824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77824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77824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77824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877824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877824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950976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50976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50976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50976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50976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50976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50976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50976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50976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950976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24128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024128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024128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024128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24128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24128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024128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24128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024128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024128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097280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97280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97280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97280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97280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097280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97280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97280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97280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97280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0432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170432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170432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170432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170432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70432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70432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70432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170432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170432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243584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243584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243584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243584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243584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243584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243584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243584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243584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243584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316736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316736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316736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316736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316736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316736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316736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316736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316736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316736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389888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389888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389888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389888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389888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389888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389888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389888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389888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389888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solidFill>
            <a:srgbClr val="10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TCP/IP 簡介</a:t>
            </a:r>
          </a:p>
          <a:p>
            <a:pPr algn="ctr">
              <a:defRPr sz="2400">
                <a:solidFill>
                  <a:srgbClr val="00D4FF"/>
                </a:solidFill>
              </a:defRPr>
            </a:pPr>
            <a:r>
              <a:t>網路通訊的基礎架構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4572000" y="4389120"/>
            <a:ext cx="3047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828800" y="5029200"/>
            <a:ext cx="274320" cy="2743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3840480" y="5029200"/>
            <a:ext cx="274320" cy="2743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2743200" y="5166360"/>
            <a:ext cx="1097280" cy="27432"/>
          </a:xfrm>
          <a:prstGeom prst="rect">
            <a:avLst/>
          </a:prstGeom>
          <a:solidFill>
            <a:srgbClr val="6C63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5852160" y="5029200"/>
            <a:ext cx="274320" cy="2743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4754880" y="5166360"/>
            <a:ext cx="1097280" cy="27432"/>
          </a:xfrm>
          <a:prstGeom prst="rect">
            <a:avLst/>
          </a:prstGeom>
          <a:solidFill>
            <a:srgbClr val="6C63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7863840" y="5029200"/>
            <a:ext cx="274320" cy="2743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766560" y="5166360"/>
            <a:ext cx="1097280" cy="27432"/>
          </a:xfrm>
          <a:prstGeom prst="rect">
            <a:avLst/>
          </a:prstGeom>
          <a:solidFill>
            <a:srgbClr val="6C63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875520" y="5029200"/>
            <a:ext cx="274320" cy="2743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8778240" y="5166360"/>
            <a:ext cx="1097280" cy="27432"/>
          </a:xfrm>
          <a:prstGeom prst="rect">
            <a:avLst/>
          </a:prstGeom>
          <a:solidFill>
            <a:srgbClr val="6C63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簡報大綱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19456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1B3D"/>
                </a:solidFill>
              </a:defRPr>
            </a:pPr>
            <a:r>
              <a:t>什麼是 TCP/IP</a:t>
            </a:r>
          </a:p>
          <a:p>
            <a:pPr>
              <a:spcBef>
                <a:spcPts val="600"/>
              </a:spcBef>
              <a:defRPr sz="1400">
                <a:solidFill>
                  <a:srgbClr val="101B3D"/>
                </a:solidFill>
              </a:defRPr>
            </a:pPr>
            <a:r>
              <a:t>網路通訊協定基礎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1645920"/>
            <a:ext cx="219456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1B3D"/>
                </a:solidFill>
              </a:defRPr>
            </a:pPr>
            <a:r>
              <a:t>四層架構</a:t>
            </a:r>
          </a:p>
          <a:p>
            <a:pPr>
              <a:spcBef>
                <a:spcPts val="600"/>
              </a:spcBef>
              <a:defRPr sz="1400">
                <a:solidFill>
                  <a:srgbClr val="101B3D"/>
                </a:solidFill>
              </a:defRPr>
            </a:pPr>
            <a:r>
              <a:t>OSI 模型對應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219456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1B3D"/>
                </a:solidFill>
              </a:defRPr>
            </a:pPr>
            <a:r>
              <a:t>TCP vs UDP</a:t>
            </a:r>
          </a:p>
          <a:p>
            <a:pPr>
              <a:spcBef>
                <a:spcPts val="600"/>
              </a:spcBef>
              <a:defRPr sz="1400">
                <a:solidFill>
                  <a:srgbClr val="101B3D"/>
                </a:solidFill>
              </a:defRPr>
            </a:pPr>
            <a:r>
              <a:t>連線導向 vs 無連線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59" y="1645920"/>
            <a:ext cx="219456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1B3D"/>
                </a:solidFill>
              </a:defRPr>
            </a:pPr>
            <a:r>
              <a:t>IP 位址</a:t>
            </a:r>
          </a:p>
          <a:p>
            <a:pPr>
              <a:spcBef>
                <a:spcPts val="600"/>
              </a:spcBef>
              <a:defRPr sz="1400">
                <a:solidFill>
                  <a:srgbClr val="101B3D"/>
                </a:solidFill>
              </a:defRPr>
            </a:pPr>
            <a:r>
              <a:t>IPv4 / IPv6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645920"/>
            <a:ext cx="219456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1B3D"/>
                </a:solidFill>
              </a:defRPr>
            </a:pPr>
            <a:r>
              <a:t>封包傳輸</a:t>
            </a:r>
          </a:p>
          <a:p>
            <a:pPr>
              <a:spcBef>
                <a:spcPts val="600"/>
              </a:spcBef>
              <a:defRPr sz="1400">
                <a:solidFill>
                  <a:srgbClr val="101B3D"/>
                </a:solidFill>
              </a:defRPr>
            </a:pPr>
            <a:r>
              <a:t>資料流動過程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什麼是 TCP/IP？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4572000" cy="4114800"/>
          </a:xfrm>
          <a:prstGeom prst="roundRect">
            <a:avLst/>
          </a:prstGeom>
          <a:solidFill>
            <a:srgbClr val="101B3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371600" cy="109728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286000"/>
            <a:ext cx="1371600" cy="109728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🖥️</a:t>
            </a:r>
          </a:p>
        </p:txBody>
      </p:sp>
      <p:sp>
        <p:nvSpPr>
          <p:cNvPr id="7" name="Oval 6"/>
          <p:cNvSpPr/>
          <p:nvPr/>
        </p:nvSpPr>
        <p:spPr>
          <a:xfrm>
            <a:off x="1645920" y="2926080"/>
            <a:ext cx="365760" cy="2743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94560" y="2926080"/>
            <a:ext cx="365760" cy="2743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200" y="2926080"/>
            <a:ext cx="365760" cy="2743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0" y="1645920"/>
            <a:ext cx="57607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1B3D"/>
                </a:solidFill>
              </a:defRPr>
            </a:pPr>
            <a:r>
              <a:t>TCP/IP 定義</a:t>
            </a:r>
          </a:p>
          <a:p>
            <a:pPr>
              <a:spcBef>
                <a:spcPts val="600"/>
              </a:spcBef>
              <a:defRPr sz="1400">
                <a:solidFill>
                  <a:srgbClr val="101B3D"/>
                </a:solidFill>
              </a:defRPr>
            </a:pPr>
            <a:r>
              <a:t>• 傳輸控制協定 (TCP)</a:t>
            </a:r>
          </a:p>
          <a:p>
            <a:pPr>
              <a:spcBef>
                <a:spcPts val="600"/>
              </a:spcBef>
              <a:defRPr sz="1400">
                <a:solidFill>
                  <a:srgbClr val="101B3D"/>
                </a:solidFill>
              </a:defRPr>
            </a:pPr>
            <a:r>
              <a:t>• 網際協定 (IP)</a:t>
            </a:r>
          </a:p>
          <a:p>
            <a:pPr>
              <a:spcBef>
                <a:spcPts val="600"/>
              </a:spcBef>
              <a:defRPr sz="1400">
                <a:solidFill>
                  <a:srgbClr val="101B3D"/>
                </a:solidFill>
              </a:defRPr>
            </a:pPr>
            <a:r>
              <a:t>• 網際網路的基礎</a:t>
            </a:r>
          </a:p>
          <a:p>
            <a:pPr>
              <a:spcBef>
                <a:spcPts val="600"/>
              </a:spcBef>
              <a:defRPr sz="1400">
                <a:solidFill>
                  <a:srgbClr val="101B3D"/>
                </a:solidFill>
              </a:defRPr>
            </a:pPr>
            <a:r>
              <a:t>• 1970 年代 ARPANET</a:t>
            </a:r>
          </a:p>
          <a:p>
            <a:pPr>
              <a:spcBef>
                <a:spcPts val="600"/>
              </a:spcBef>
              <a:defRPr sz="1400">
                <a:solidFill>
                  <a:srgbClr val="101B3D"/>
                </a:solidFill>
              </a:defRPr>
            </a:pPr>
            <a:r>
              <a:t>• 全球最廣泛使用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TCP/IP 四層架構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62895" cy="1097280"/>
          </a:xfrm>
          <a:prstGeom prst="roundRect">
            <a:avLst/>
          </a:prstGeom>
          <a:solidFill>
            <a:srgbClr val="00D4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🌐  應用層</a:t>
            </a:r>
          </a:p>
          <a:p>
            <a:pPr algn="r">
              <a:defRPr sz="1600">
                <a:solidFill>
                  <a:srgbClr val="DDE6F2"/>
                </a:solidFill>
              </a:defRPr>
            </a:pPr>
            <a:r>
              <a:t>HTTP, FTP, SMTP, DNS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606040"/>
            <a:ext cx="10362895" cy="1097280"/>
          </a:xfrm>
          <a:prstGeom prst="roundRect">
            <a:avLst/>
          </a:prstGeom>
          <a:solidFill>
            <a:srgbClr val="6C63FF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📦  傳輸層</a:t>
            </a:r>
          </a:p>
          <a:p>
            <a:pPr algn="r">
              <a:defRPr sz="1600">
                <a:solidFill>
                  <a:srgbClr val="DDE6F2"/>
                </a:solidFill>
              </a:defRPr>
            </a:pPr>
            <a:r>
              <a:t>TCP, UDP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840480"/>
            <a:ext cx="10362895" cy="1097280"/>
          </a:xfrm>
          <a:prstGeom prst="roundRect">
            <a:avLst/>
          </a:prstGeom>
          <a:solidFill>
            <a:srgbClr val="00D4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📍  網際層</a:t>
            </a:r>
          </a:p>
          <a:p>
            <a:pPr algn="r">
              <a:defRPr sz="1600">
                <a:solidFill>
                  <a:srgbClr val="DDE6F2"/>
                </a:solidFill>
              </a:defRPr>
            </a:pPr>
            <a:r>
              <a:t>IP, ICMP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074920"/>
            <a:ext cx="10362895" cy="1097280"/>
          </a:xfrm>
          <a:prstGeom prst="roundRect">
            <a:avLst/>
          </a:prstGeom>
          <a:solidFill>
            <a:srgbClr val="6C63FF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🔌  網路存取層</a:t>
            </a:r>
          </a:p>
          <a:p>
            <a:pPr algn="r">
              <a:defRPr sz="1600">
                <a:solidFill>
                  <a:srgbClr val="DDE6F2"/>
                </a:solidFill>
              </a:defRPr>
            </a:pPr>
            <a:r>
              <a:t>Ethernet, Wi-Fi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TCP vs UDP 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572000"/>
          </a:xfrm>
          <a:prstGeom prst="roundRect">
            <a:avLst/>
          </a:prstGeom>
          <a:solidFill>
            <a:srgbClr val="101B3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0D4FF"/>
                </a:solidFill>
              </a:defRPr>
            </a:pPr>
            <a:r>
              <a:t>TCP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✓ 需要連線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✓ 可靠（確認機制）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✓ 較慢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✓ 適合：網頁、郵件、檔案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303520" cy="4572000"/>
          </a:xfrm>
          <a:prstGeom prst="roundRect">
            <a:avLst/>
          </a:prstGeom>
          <a:solidFill>
            <a:srgbClr val="101B3D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6C63FF"/>
                </a:solidFill>
              </a:defRPr>
            </a:pPr>
            <a:r>
              <a:t>UDP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⚡ 無連線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⚡ 不可靠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⚡ 較快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⚡ 適合：直播、遊戲、語音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IP 位址介紹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2286000"/>
            <a:ext cx="1371600" cy="13716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101B3D"/>
                </a:solidFill>
              </a:defRPr>
            </a:pPr>
            <a:r>
              <a:t>192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404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DE6F2"/>
                </a:solidFill>
              </a:defRPr>
            </a:pPr>
            <a:r>
              <a:t>網路位置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286000"/>
            <a:ext cx="1371600" cy="13716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101B3D"/>
                </a:solidFill>
              </a:defRPr>
            </a:pPr>
            <a:r>
              <a:t>168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8404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DE6F2"/>
                </a:solidFill>
              </a:defRPr>
            </a:pPr>
            <a:r>
              <a:t>子網路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286000"/>
            <a:ext cx="1371600" cy="13716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101B3D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8404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DE6F2"/>
                </a:solidFill>
              </a:defRPr>
            </a:pPr>
            <a:r>
              <a:t>主機位置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286000"/>
            <a:ext cx="1371600" cy="13716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101B3D"/>
                </a:solidFill>
              </a:defRPr>
            </a:pPr>
            <a:r>
              <a:t>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DE6F2"/>
                </a:solidFill>
              </a:defRPr>
            </a:pPr>
            <a:r>
              <a:t>主機編號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572000"/>
            <a:ext cx="10362895" cy="1828800"/>
          </a:xfrm>
          <a:prstGeom prst="roundRect">
            <a:avLst/>
          </a:prstGeom>
          <a:solidFill>
            <a:srgbClr val="101B3D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00D4FF"/>
                </a:solidFill>
              </a:defRPr>
            </a:pPr>
            <a:r>
              <a:t>IPv4: 32 位元 | IPv6: 128 位元</a:t>
            </a:r>
          </a:p>
          <a:p>
            <a:pPr algn="ctr">
              <a:defRPr sz="1600">
                <a:solidFill>
                  <a:srgbClr val="DDE6F2"/>
                </a:solidFill>
              </a:defRPr>
            </a:pPr>
            <a:r>
              <a:t>A類: 1-126 (政府) | B類: 128-191 (企業) | C類: 192-223 (小型)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封包傳輸流程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103120" cy="1645920"/>
          </a:xfrm>
          <a:prstGeom prst="roundRect">
            <a:avLst/>
          </a:prstGeom>
          <a:solidFill>
            <a:srgbClr val="00D4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應用資料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68880" y="2834640"/>
            <a:ext cx="365760" cy="36576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34640" y="2286000"/>
            <a:ext cx="2103120" cy="1645920"/>
          </a:xfrm>
          <a:prstGeom prst="roundRect">
            <a:avLst/>
          </a:prstGeom>
          <a:solidFill>
            <a:srgbClr val="6C63FF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TCP/UDP</a:t>
            </a:r>
            <a:br/>
            <a:r>
              <a:t>封裝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46320" y="2834640"/>
            <a:ext cx="365760" cy="36576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12080" y="2286000"/>
            <a:ext cx="2103120" cy="1645920"/>
          </a:xfrm>
          <a:prstGeom prst="roundRect">
            <a:avLst/>
          </a:prstGeom>
          <a:solidFill>
            <a:srgbClr val="00D4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IP</a:t>
            </a:r>
            <a:br/>
            <a:r>
              <a:t>封裝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223760" y="2834640"/>
            <a:ext cx="365760" cy="36576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89520" y="2286000"/>
            <a:ext cx="2103120" cy="1645920"/>
          </a:xfrm>
          <a:prstGeom prst="roundRect">
            <a:avLst/>
          </a:prstGeom>
          <a:solidFill>
            <a:srgbClr val="6C63FF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路由器</a:t>
            </a:r>
            <a:br/>
            <a:r>
              <a:t>轉送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601200" y="2834640"/>
            <a:ext cx="365760" cy="36576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66960" y="2286000"/>
            <a:ext cx="2103120" cy="1645920"/>
          </a:xfrm>
          <a:prstGeom prst="roundRect">
            <a:avLst/>
          </a:prstGeom>
          <a:solidFill>
            <a:srgbClr val="00D4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目的端</a:t>
            </a:r>
            <a:br/>
            <a:r>
              <a:t>接收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DDE6F2"/>
                </a:solidFill>
              </a:defRPr>
            </a:pPr>
            <a:r>
              <a:t>使用者資料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1148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DDE6F2"/>
                </a:solidFill>
              </a:defRPr>
            </a:pPr>
            <a:r>
              <a:t>加上通訊協定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41148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DDE6F2"/>
                </a:solidFill>
              </a:defRPr>
            </a:pPr>
            <a:r>
              <a:t>加上IP位置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41148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DDE6F2"/>
                </a:solidFill>
              </a:defRPr>
            </a:pPr>
            <a:r>
              <a:t>透過網路傳送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41148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DDE6F2"/>
                </a:solidFill>
              </a:defRPr>
            </a:pPr>
            <a:r>
              <a:t>重新組合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生活應用實例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4389120" cy="1828800"/>
          </a:xfrm>
          <a:prstGeom prst="roundRect">
            <a:avLst/>
          </a:prstGeom>
          <a:solidFill>
            <a:srgbClr val="101B3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🌐  瀏覽網頁</a:t>
            </a:r>
          </a:p>
          <a:p>
            <a:pPr>
              <a:defRPr sz="1600">
                <a:solidFill>
                  <a:srgbClr val="DDE6F2"/>
                </a:solidFill>
              </a:defRPr>
            </a:pPr>
            <a:r>
              <a:t>HTTP → TCP → 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4389120" cy="1828800"/>
          </a:xfrm>
          <a:prstGeom prst="roundRect">
            <a:avLst/>
          </a:prstGeom>
          <a:solidFill>
            <a:srgbClr val="101B3D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📺  觀看影片</a:t>
            </a:r>
          </a:p>
          <a:p>
            <a:pPr>
              <a:defRPr sz="1600">
                <a:solidFill>
                  <a:srgbClr val="DDE6F2"/>
                </a:solidFill>
              </a:defRPr>
            </a:pPr>
            <a:r>
              <a:t>RTP → UDP → 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931920"/>
            <a:ext cx="4389120" cy="1828800"/>
          </a:xfrm>
          <a:prstGeom prst="roundRect">
            <a:avLst/>
          </a:prstGeom>
          <a:solidFill>
            <a:srgbClr val="101B3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💬  傳訊息</a:t>
            </a:r>
          </a:p>
          <a:p>
            <a:pPr>
              <a:defRPr sz="1600">
                <a:solidFill>
                  <a:srgbClr val="DDE6F2"/>
                </a:solidFill>
              </a:defRPr>
            </a:pPr>
            <a:r>
              <a:t>LINE → TCP/UDP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931920"/>
            <a:ext cx="4389120" cy="1828800"/>
          </a:xfrm>
          <a:prstGeom prst="roundRect">
            <a:avLst/>
          </a:prstGeom>
          <a:solidFill>
            <a:srgbClr val="101B3D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🎮  線上遊戲</a:t>
            </a:r>
          </a:p>
          <a:p>
            <a:pPr>
              <a:defRPr sz="1600">
                <a:solidFill>
                  <a:srgbClr val="DDE6F2"/>
                </a:solidFill>
              </a:defRPr>
            </a:pPr>
            <a:r>
              <a:t>遊戲協議 → UDP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6304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6304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6304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6304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6304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46304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6304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6304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6304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6304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19456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19456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19456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19456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19456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19456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9456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9456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19456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19456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2608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2608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608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608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2608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92608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92608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92608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92608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92608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65760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65760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65760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65760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65760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65760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65760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65760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65760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65760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38912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38912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38912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38912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38912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38912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38912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38912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38912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38912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12064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12064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12064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12064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12064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12064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12064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12064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12064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12064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85216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85216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85216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85216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585216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85216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85216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85216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85216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85216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58368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58368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58368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58368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58368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58368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58368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658368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58368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58368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31520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31520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31520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31520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31520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31520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31520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31520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31520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31520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04672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804672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04672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04672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04672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04672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04672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4672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04672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04672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77824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77824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77824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77824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77824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77824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77824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77824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877824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877824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950976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50976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50976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50976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50976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50976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50976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50976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50976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950976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24128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024128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024128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024128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24128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24128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024128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24128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024128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024128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097280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97280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97280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97280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97280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097280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97280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97280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97280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97280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0432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170432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170432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170432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170432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70432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70432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70432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170432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170432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243584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243584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243584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243584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243584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243584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243584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243584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243584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243584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316736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316736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316736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316736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316736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316736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316736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316736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316736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316736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3898880" y="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3898880" y="8229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3898880" y="16459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3898880" y="24688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3898880" y="32918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3898880" y="411480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3898880" y="493776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3898880" y="576072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3898880" y="658368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3898880" y="7406640"/>
            <a:ext cx="27432" cy="27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總結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ounded Rectangle 203"/>
          <p:cNvSpPr/>
          <p:nvPr/>
        </p:nvSpPr>
        <p:spPr>
          <a:xfrm>
            <a:off x="1371600" y="1828800"/>
            <a:ext cx="2286000" cy="1371600"/>
          </a:xfrm>
          <a:prstGeom prst="roundRect">
            <a:avLst/>
          </a:prstGeom>
          <a:solidFill>
            <a:srgbClr val="00D4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🔗 網路連線規則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3931920" y="1828800"/>
            <a:ext cx="2286000" cy="1371600"/>
          </a:xfrm>
          <a:prstGeom prst="roundRect">
            <a:avLst/>
          </a:prstGeom>
          <a:solidFill>
            <a:srgbClr val="00D4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📦 資料傳輸標準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6492240" y="1828800"/>
            <a:ext cx="2286000" cy="1371600"/>
          </a:xfrm>
          <a:prstGeom prst="roundRect">
            <a:avLst/>
          </a:prstGeom>
          <a:solidFill>
            <a:srgbClr val="00D4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📍 位址定位系統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9052559" y="1828800"/>
            <a:ext cx="2286000" cy="1371600"/>
          </a:xfrm>
          <a:prstGeom prst="roundRect">
            <a:avLst/>
          </a:prstGeom>
          <a:solidFill>
            <a:srgbClr val="00D4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🌍 全球網路基礎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1828800" y="3657600"/>
            <a:ext cx="8534095" cy="1828800"/>
          </a:xfrm>
          <a:prstGeom prst="roundRect">
            <a:avLst/>
          </a:prstGeom>
          <a:solidFill>
            <a:srgbClr val="101B3D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TCP/IP 是讓不同裝置能在網路中互相溝通的核心規則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參考資料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2286000" cy="1371600"/>
          </a:xfrm>
          <a:prstGeom prst="roundRect">
            <a:avLst/>
          </a:prstGeom>
          <a:solidFill>
            <a:srgbClr val="6C63FF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RFC 791 (IPv4)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2286000"/>
            <a:ext cx="2286000" cy="1371600"/>
          </a:xfrm>
          <a:prstGeom prst="roundRect">
            <a:avLst/>
          </a:prstGeom>
          <a:solidFill>
            <a:srgbClr val="6C63FF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RFC 793 (TCP)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2286000"/>
            <a:ext cx="2286000" cy="1371600"/>
          </a:xfrm>
          <a:prstGeom prst="roundRect">
            <a:avLst/>
          </a:prstGeom>
          <a:solidFill>
            <a:srgbClr val="6C63FF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RFC 768 (UDP)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59" y="2286000"/>
            <a:ext cx="2286000" cy="1371600"/>
          </a:xfrm>
          <a:prstGeom prst="roundRect">
            <a:avLst/>
          </a:prstGeom>
          <a:solidFill>
            <a:srgbClr val="6C63FF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RFC 791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